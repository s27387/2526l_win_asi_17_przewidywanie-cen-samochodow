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0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6120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91440"/>
            <a:ext cx="3794760" cy="3794760"/>
          </a:xfrm>
          <a:prstGeom prst="arc">
            <a:avLst/>
          </a:prstGeom>
          <a:solidFill>
            <a:srgbClr val="0B1220">
              <a:alpha val="0"/>
            </a:srgbClr>
          </a:solidFill>
          <a:ln w="38100">
            <a:solidFill>
              <a:srgbClr val="14B8A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3" name="Shape 1"/>
          <p:cNvSpPr/>
          <p:nvPr/>
        </p:nvSpPr>
        <p:spPr>
          <a:xfrm>
            <a:off x="8778240" y="1828800"/>
            <a:ext cx="2926080" cy="2926080"/>
          </a:xfrm>
          <a:prstGeom prst="arc">
            <a:avLst/>
          </a:prstGeom>
          <a:solidFill>
            <a:srgbClr val="0B1220">
              <a:alpha val="0"/>
            </a:srgbClr>
          </a:solidFill>
          <a:ln w="3175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4" name="Shape 2"/>
          <p:cNvSpPr/>
          <p:nvPr/>
        </p:nvSpPr>
        <p:spPr>
          <a:xfrm>
            <a:off x="658368" y="749808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5" name="Text 3"/>
          <p:cNvSpPr/>
          <p:nvPr/>
        </p:nvSpPr>
        <p:spPr>
          <a:xfrm>
            <a:off x="749808" y="8229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+ MLOps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RevRate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21762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1F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Przewidywanie cen samochodów w Polsce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953512"/>
            <a:ext cx="57150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 regresji cenowej: dane z ogłoszeń, pipeline Kedro, eksperymenty MLflow, AutoGluon, API FastAPI oraz monitoring driftu.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Jak zamienić parametry ogłoszenia w szybką, powtarzalną wycenę pojazdu?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23444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5" name="Text 3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RevRate - predykcja cen samochodów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2/9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448056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8" name="Shape 6"/>
          <p:cNvSpPr/>
          <p:nvPr/>
        </p:nvSpPr>
        <p:spPr>
          <a:xfrm>
            <a:off x="658368" y="1417320"/>
            <a:ext cx="100584" cy="2057400"/>
          </a:xfrm>
          <a:prstGeom prst="roundRect">
            <a:avLst>
              <a:gd name="adj" fmla="val 36364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9" name="Text 7"/>
          <p:cNvSpPr/>
          <p:nvPr/>
        </p:nvSpPr>
        <p:spPr>
          <a:xfrm>
            <a:off x="914400" y="160020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40690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Rynek samochodów używanych i nowych jest silnie zróżnicowany. Cena zależy od wielu cech: marki, modelu, wieku, przebiegu, mocy, pojemności, paliwa, nadwozia, koloru oraz lokalizacji oferty.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57200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2" name="Shape 10"/>
          <p:cNvSpPr/>
          <p:nvPr/>
        </p:nvSpPr>
        <p:spPr>
          <a:xfrm>
            <a:off x="6446520" y="1417320"/>
            <a:ext cx="100584" cy="2057400"/>
          </a:xfrm>
          <a:prstGeom prst="roundRect">
            <a:avLst>
              <a:gd name="adj" fmla="val 36364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3" name="Text 11"/>
          <p:cNvSpPr/>
          <p:nvPr/>
        </p:nvSpPr>
        <p:spPr>
          <a:xfrm>
            <a:off x="6702552" y="160020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Rozwiązanie RevRate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02552" y="1965960"/>
            <a:ext cx="41605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regresyjny przewiduje cenę w PLN dla nowego ogłoszenia. API zwraca również sygnał driftu i listę ostrzeżeń, gdy dane wejściowe odbiegają od treningowych.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5285232" y="2404872"/>
            <a:ext cx="978408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PL"/>
          </a:p>
        </p:txBody>
      </p:sp>
      <p:sp>
        <p:nvSpPr>
          <p:cNvPr id="16" name="Shape 14"/>
          <p:cNvSpPr/>
          <p:nvPr/>
        </p:nvSpPr>
        <p:spPr>
          <a:xfrm>
            <a:off x="5370577" y="2020824"/>
            <a:ext cx="749808" cy="749808"/>
          </a:xfrm>
          <a:prstGeom prst="roundRect">
            <a:avLst>
              <a:gd name="adj" fmla="val 2195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7" name="Text 15"/>
          <p:cNvSpPr/>
          <p:nvPr/>
        </p:nvSpPr>
        <p:spPr>
          <a:xfrm>
            <a:off x="5516881" y="23042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08276" y="4169665"/>
            <a:ext cx="7132320" cy="1234440"/>
          </a:xfrm>
          <a:prstGeom prst="roundRect">
            <a:avLst>
              <a:gd name="adj" fmla="val 1185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9" name="Text 17"/>
          <p:cNvSpPr/>
          <p:nvPr/>
        </p:nvSpPr>
        <p:spPr>
          <a:xfrm>
            <a:off x="2365904" y="4411723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</a:rPr>
              <a:t>Efekt biznesowy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68296" y="4747360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1300" dirty="0">
                <a:solidFill>
                  <a:srgbClr val="334155"/>
                </a:solidFill>
              </a:rPr>
              <a:t>Lokalna usługa wspierająca szybką wycenę pojazdu przed publikacją ogłoszenia.</a:t>
            </a:r>
            <a:endParaRPr lang="pl-PL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Dane wejściowe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Kaggle: bartoszpieniak/poland-cars-for-sale-dataset, plik data/Car_sale_ads.csv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23444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5" name="Text 3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RevRate - predykcja cen samochodów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58368" y="1389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</a:rPr>
              <a:t>Zmienna docelowa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737359"/>
            <a:ext cx="2468880" cy="1078987"/>
          </a:xfrm>
          <a:prstGeom prst="roundRect">
            <a:avLst>
              <a:gd name="adj" fmla="val 18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Price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23042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</a:rPr>
              <a:t>cena pojazdu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</a:rPr>
              <a:t>w PLN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0" y="1389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</a:rPr>
              <a:t>Najważniejsze cechy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1737360"/>
            <a:ext cx="26974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3" name="Text 11"/>
          <p:cNvSpPr/>
          <p:nvPr/>
        </p:nvSpPr>
        <p:spPr>
          <a:xfrm>
            <a:off x="3803904" y="18562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Pojazd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803904" y="20939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brand, model, condition, type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675120" y="1737360"/>
            <a:ext cx="26974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6" name="Text 14"/>
          <p:cNvSpPr/>
          <p:nvPr/>
        </p:nvSpPr>
        <p:spPr>
          <a:xfrm>
            <a:off x="6821424" y="18562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Silnik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21424" y="20939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power, displacement, fuel, CO2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0" y="2697480"/>
            <a:ext cx="26974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9" name="Text 17"/>
          <p:cNvSpPr/>
          <p:nvPr/>
        </p:nvSpPr>
        <p:spPr>
          <a:xfrm>
            <a:off x="3803904" y="28163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Eksploatacja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03904" y="305409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production year, mileage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75120" y="2697480"/>
            <a:ext cx="26974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22" name="Text 20"/>
          <p:cNvSpPr/>
          <p:nvPr/>
        </p:nvSpPr>
        <p:spPr>
          <a:xfrm>
            <a:off x="6821424" y="28163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Oferta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21424" y="305409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colour, doors, location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5800" y="3794760"/>
            <a:ext cx="10789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25" name="Text 23"/>
          <p:cNvSpPr/>
          <p:nvPr/>
        </p:nvSpPr>
        <p:spPr>
          <a:xfrm>
            <a:off x="658368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</a:rPr>
              <a:t>Kluczowe operacje na danych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617720"/>
            <a:ext cx="347472" cy="347472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98448" y="45634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pobranie z Kaggle lub lokalny CSV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0" y="4617720"/>
            <a:ext cx="347472" cy="347472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87368" y="45628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konwersja EUR -&gt; PLN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4617720"/>
            <a:ext cx="347472" cy="347472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76288" y="457678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czyszczenie i usuwanie outlierów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35440" y="4617720"/>
            <a:ext cx="347472" cy="347472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65208" y="4617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imputacja braków i filtracja zakresów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ML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 danych surowych do artefaktów gotowych dla API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23444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5" name="Text 3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RevRate - predykcja cen samochodów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4/9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011680" y="2308860"/>
            <a:ext cx="210312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PL"/>
          </a:p>
        </p:txBody>
      </p:sp>
      <p:sp>
        <p:nvSpPr>
          <p:cNvPr id="8" name="Shape 6"/>
          <p:cNvSpPr/>
          <p:nvPr/>
        </p:nvSpPr>
        <p:spPr>
          <a:xfrm>
            <a:off x="3749040" y="2308860"/>
            <a:ext cx="210312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PL"/>
          </a:p>
        </p:txBody>
      </p:sp>
      <p:sp>
        <p:nvSpPr>
          <p:cNvPr id="9" name="Shape 7"/>
          <p:cNvSpPr/>
          <p:nvPr/>
        </p:nvSpPr>
        <p:spPr>
          <a:xfrm>
            <a:off x="5486400" y="2308860"/>
            <a:ext cx="210312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PL"/>
          </a:p>
        </p:txBody>
      </p:sp>
      <p:sp>
        <p:nvSpPr>
          <p:cNvPr id="10" name="Shape 8"/>
          <p:cNvSpPr/>
          <p:nvPr/>
        </p:nvSpPr>
        <p:spPr>
          <a:xfrm>
            <a:off x="2011680" y="3470179"/>
            <a:ext cx="210312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PL"/>
          </a:p>
        </p:txBody>
      </p:sp>
      <p:sp>
        <p:nvSpPr>
          <p:cNvPr id="11" name="Shape 9"/>
          <p:cNvSpPr/>
          <p:nvPr/>
        </p:nvSpPr>
        <p:spPr>
          <a:xfrm>
            <a:off x="3749040" y="3470179"/>
            <a:ext cx="210312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PL"/>
          </a:p>
        </p:txBody>
      </p:sp>
      <p:sp>
        <p:nvSpPr>
          <p:cNvPr id="12" name="Shape 10"/>
          <p:cNvSpPr/>
          <p:nvPr/>
        </p:nvSpPr>
        <p:spPr>
          <a:xfrm>
            <a:off x="594360" y="1879092"/>
            <a:ext cx="132588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3" name="Text 11"/>
          <p:cNvSpPr/>
          <p:nvPr/>
        </p:nvSpPr>
        <p:spPr>
          <a:xfrm>
            <a:off x="685800" y="20208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</a:rPr>
              <a:t>Dane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8488" y="2327447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Kaggle / CSV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31720" y="1874520"/>
            <a:ext cx="132588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778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6" name="Text 14"/>
          <p:cNvSpPr/>
          <p:nvPr/>
        </p:nvSpPr>
        <p:spPr>
          <a:xfrm>
            <a:off x="2423160" y="20208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B8A6"/>
                </a:solidFill>
              </a:rPr>
              <a:t>Czyszczenie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23160" y="231343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outliery, waluty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069080" y="1874520"/>
            <a:ext cx="132588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77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9" name="Text 17"/>
          <p:cNvSpPr/>
          <p:nvPr/>
        </p:nvSpPr>
        <p:spPr>
          <a:xfrm>
            <a:off x="4160520" y="20208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C55E"/>
                </a:solidFill>
              </a:rPr>
              <a:t>Feature eng.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60520" y="231343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age, mileage/yr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3035839"/>
            <a:ext cx="132588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22" name="Text 20"/>
          <p:cNvSpPr/>
          <p:nvPr/>
        </p:nvSpPr>
        <p:spPr>
          <a:xfrm>
            <a:off x="685800" y="3182143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</a:rPr>
              <a:t>Preprocessing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5800" y="3474751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num + cat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331720" y="3035839"/>
            <a:ext cx="132588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77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25" name="Text 23"/>
          <p:cNvSpPr/>
          <p:nvPr/>
        </p:nvSpPr>
        <p:spPr>
          <a:xfrm>
            <a:off x="2423160" y="3182143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9E0B"/>
                </a:solidFill>
              </a:rPr>
              <a:t>Model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423160" y="3474751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RF + GridSearch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069080" y="3035839"/>
            <a:ext cx="132588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778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28" name="Text 26"/>
          <p:cNvSpPr/>
          <p:nvPr/>
        </p:nvSpPr>
        <p:spPr>
          <a:xfrm>
            <a:off x="4160520" y="3182143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F4444"/>
                </a:solidFill>
              </a:rPr>
              <a:t>Ewaluacja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160520" y="3474751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RMSE, MAE, R²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9874" y="422245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</a:rPr>
              <a:t>Custom pipeline Kedro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7034" y="4679654"/>
            <a:ext cx="4408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</a:rPr>
              <a:t>• imputacje na podstawie podobnych samochodów + mediany/dominanty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727034" y="5017982"/>
            <a:ext cx="53689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</a:rPr>
              <a:t>• cechy: car_age, mileage_per_year, power_to_displacement, age_x_mileage, voivodeship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727034" y="5356310"/>
            <a:ext cx="29305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</a:rPr>
              <a:t>• selekcja cech według ważności Random Forest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727034" y="5694638"/>
            <a:ext cx="45764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</a:rPr>
              <a:t>• zapis modeli, preprocesora, top cech i statystyk referencyjnych do models/</a:t>
            </a:r>
            <a:endParaRPr lang="en-US" sz="106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5C6CEE9-5D3A-84D5-7A59-4CC7A29F7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853" y="481372"/>
            <a:ext cx="4535253" cy="60291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Eksperymenty i porównanie modeli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MLflow rejestruje parametry, metryki, wykresy, leaderboardy oraz artefakty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23444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5" name="Text 3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RevRate - predykcja cen samochodów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5/9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8" name="Shape 6"/>
          <p:cNvSpPr/>
          <p:nvPr/>
        </p:nvSpPr>
        <p:spPr>
          <a:xfrm>
            <a:off x="658368" y="1417320"/>
            <a:ext cx="100584" cy="1965960"/>
          </a:xfrm>
          <a:prstGeom prst="roundRect">
            <a:avLst>
              <a:gd name="adj" fmla="val 36364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9" name="Text 7"/>
          <p:cNvSpPr/>
          <p:nvPr/>
        </p:nvSpPr>
        <p:spPr>
          <a:xfrm>
            <a:off x="914400" y="1600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RandomForest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306324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Ręcznie przygotowany pipeline z selekcją cech i GridSearchCV. Model zapisywany jako custom_model.pkl oraz logowany w MLflow jako revrate_custom_rf.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2" name="Shape 10"/>
          <p:cNvSpPr/>
          <p:nvPr/>
        </p:nvSpPr>
        <p:spPr>
          <a:xfrm>
            <a:off x="4434840" y="1417320"/>
            <a:ext cx="100584" cy="1965960"/>
          </a:xfrm>
          <a:prstGeom prst="roundRect">
            <a:avLst>
              <a:gd name="adj" fmla="val 36364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3" name="Text 11"/>
          <p:cNvSpPr/>
          <p:nvPr/>
        </p:nvSpPr>
        <p:spPr>
          <a:xfrm>
            <a:off x="4690872" y="1600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AutoGluon AutoML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90872" y="1965960"/>
            <a:ext cx="306324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Osobny pipeline trenuje i porównuje modele AutoML: KNeighbors, RandomForest, ExtraTrees oraz WeightedEnsemble.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211312" y="1417320"/>
            <a:ext cx="31546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6" name="Shape 14"/>
          <p:cNvSpPr/>
          <p:nvPr/>
        </p:nvSpPr>
        <p:spPr>
          <a:xfrm>
            <a:off x="8211312" y="1417320"/>
            <a:ext cx="100584" cy="1965960"/>
          </a:xfrm>
          <a:prstGeom prst="roundRect">
            <a:avLst>
              <a:gd name="adj" fmla="val 36364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7" name="Text 15"/>
          <p:cNvSpPr/>
          <p:nvPr/>
        </p:nvSpPr>
        <p:spPr>
          <a:xfrm>
            <a:off x="8467344" y="1600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Śledzenie eksperymentów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67344" y="1965960"/>
            <a:ext cx="27432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Lokalny tracking URI: sqlite:///mlflow.db. </a:t>
            </a:r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dostępne pod http://127.0.0.1:5000.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1051560" y="388620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90000"/>
            </a:srgbClr>
          </a:solidFill>
          <a:ln w="203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20" name="Text 18"/>
          <p:cNvSpPr/>
          <p:nvPr/>
        </p:nvSpPr>
        <p:spPr>
          <a:xfrm>
            <a:off x="1280160" y="4201668"/>
            <a:ext cx="44348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BRAK ZRZUTU EKRANU: tu wstaw widok MLflow UI z metrykami i artefaktami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388620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90000"/>
            </a:srgbClr>
          </a:solidFill>
          <a:ln w="203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22" name="Text 20"/>
          <p:cNvSpPr/>
          <p:nvPr/>
        </p:nvSpPr>
        <p:spPr>
          <a:xfrm>
            <a:off x="6492240" y="4201668"/>
            <a:ext cx="42062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BRAK ZRZUTU EKRANU: tu wstaw AutoGluon leaderboard z MLflow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Wyniki modeli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Najniższy błąd testowy uzyskał ręczny RandomForest po selekcji cech i strojeniu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23444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5" name="Text 3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RevRate - predykcja cen samochodów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220"/>
                </a:solidFill>
              </a:rPr>
              <a:t>Test RMSE - im niżej, tym lepiej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828800" y="4983480"/>
            <a:ext cx="5257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9" name="Text 7"/>
          <p:cNvSpPr/>
          <p:nvPr/>
        </p:nvSpPr>
        <p:spPr>
          <a:xfrm>
            <a:off x="777240" y="16459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</a:rPr>
              <a:t>Custom RF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20240" y="1655064"/>
            <a:ext cx="2157221" cy="228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1" name="Text 9"/>
          <p:cNvSpPr/>
          <p:nvPr/>
        </p:nvSpPr>
        <p:spPr>
          <a:xfrm>
            <a:off x="4150613" y="162763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10 111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" y="22677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</a:rPr>
              <a:t>AutoGluon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</a:rPr>
              <a:t>KNN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20240" y="2276856"/>
            <a:ext cx="4768905" cy="2286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4" name="Text 12"/>
          <p:cNvSpPr/>
          <p:nvPr/>
        </p:nvSpPr>
        <p:spPr>
          <a:xfrm>
            <a:off x="6762297" y="224942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22 351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28895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</a:rPr>
              <a:t>AutoGluon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</a:rPr>
              <a:t>RF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920240" y="2898648"/>
            <a:ext cx="2432434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7" name="Text 15"/>
          <p:cNvSpPr/>
          <p:nvPr/>
        </p:nvSpPr>
        <p:spPr>
          <a:xfrm>
            <a:off x="4425826" y="2871216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11 401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77240" y="35112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</a:rPr>
              <a:t>AutoGluon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</a:rPr>
              <a:t>ExtraTrees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920240" y="3520440"/>
            <a:ext cx="2418901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20" name="Text 18"/>
          <p:cNvSpPr/>
          <p:nvPr/>
        </p:nvSpPr>
        <p:spPr>
          <a:xfrm>
            <a:off x="4412293" y="3493008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11 337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77240" y="41330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</a:rPr>
              <a:t>AutoGluon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</a:rPr>
              <a:t>Ensemble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920240" y="4142232"/>
            <a:ext cx="239599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23" name="Text 21"/>
          <p:cNvSpPr/>
          <p:nvPr/>
        </p:nvSpPr>
        <p:spPr>
          <a:xfrm>
            <a:off x="4389382" y="4114800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11 230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001000" y="1417320"/>
            <a:ext cx="3200400" cy="3520440"/>
          </a:xfrm>
          <a:prstGeom prst="roundRect">
            <a:avLst>
              <a:gd name="adj" fmla="val 457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25" name="Text 23"/>
          <p:cNvSpPr/>
          <p:nvPr/>
        </p:nvSpPr>
        <p:spPr>
          <a:xfrm>
            <a:off x="8321040" y="17556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Najlepszy model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Custom RandomForest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+ GridSearchCV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21040" y="31363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Test RMSE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26880" y="30540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10 110,71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21040" y="36758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Test MAE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326880" y="3593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5 780,98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21040" y="42153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Test R²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326880" y="4133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0,9199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7240" y="53949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</a:rPr>
              <a:t>Wniosek: ręczny pipeline pokonał warianty AutoML pod względem RMSE, MAE i R² na zbiorze testowym.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Wdrożenie lokalne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udostępnia model, a Kedro generuje wymagane artefakty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23444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5" name="Text 3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RevRate - predykcja cen samochodów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7/9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1234440" y="2450592"/>
            <a:ext cx="1874520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PL"/>
          </a:p>
        </p:txBody>
      </p:sp>
      <p:sp>
        <p:nvSpPr>
          <p:cNvPr id="8" name="Shape 6"/>
          <p:cNvSpPr/>
          <p:nvPr/>
        </p:nvSpPr>
        <p:spPr>
          <a:xfrm>
            <a:off x="4480560" y="2450592"/>
            <a:ext cx="1783080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PL"/>
          </a:p>
        </p:txBody>
      </p:sp>
      <p:sp>
        <p:nvSpPr>
          <p:cNvPr id="9" name="Shape 7"/>
          <p:cNvSpPr/>
          <p:nvPr/>
        </p:nvSpPr>
        <p:spPr>
          <a:xfrm>
            <a:off x="7726680" y="2450592"/>
            <a:ext cx="1783080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PL"/>
          </a:p>
        </p:txBody>
      </p:sp>
      <p:sp>
        <p:nvSpPr>
          <p:cNvPr id="10" name="Shape 8"/>
          <p:cNvSpPr/>
          <p:nvPr/>
        </p:nvSpPr>
        <p:spPr>
          <a:xfrm>
            <a:off x="502920" y="1938528"/>
            <a:ext cx="1325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1" name="Text 9"/>
          <p:cNvSpPr/>
          <p:nvPr/>
        </p:nvSpPr>
        <p:spPr>
          <a:xfrm>
            <a:off x="612648" y="2084832"/>
            <a:ext cx="110642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custom_pipeline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Kedro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1938528"/>
            <a:ext cx="1325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3" name="Text 11"/>
          <p:cNvSpPr/>
          <p:nvPr/>
        </p:nvSpPr>
        <p:spPr>
          <a:xfrm>
            <a:off x="3264408" y="2084832"/>
            <a:ext cx="110642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artefakty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models/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1938528"/>
            <a:ext cx="1325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5" name="Text 13"/>
          <p:cNvSpPr/>
          <p:nvPr/>
        </p:nvSpPr>
        <p:spPr>
          <a:xfrm>
            <a:off x="6419088" y="2084832"/>
            <a:ext cx="110642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Uvicorn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555480" y="1938528"/>
            <a:ext cx="1325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7" name="Text 15"/>
          <p:cNvSpPr/>
          <p:nvPr/>
        </p:nvSpPr>
        <p:spPr>
          <a:xfrm>
            <a:off x="9665208" y="2084832"/>
            <a:ext cx="110642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/predict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PLN + drift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3657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</a:rPr>
              <a:t>Wymagane artefakty przed predykcją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4023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models/custom_model.pkl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1248" y="43525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models/custom_preprocessor.pkl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" y="46817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models/custom_top_features.pkl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1248" y="5010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models/reference_stats.json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89320" y="3657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</a:rPr>
              <a:t>Endpointy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4005072"/>
            <a:ext cx="2423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25" name="Text 23"/>
          <p:cNvSpPr/>
          <p:nvPr/>
        </p:nvSpPr>
        <p:spPr>
          <a:xfrm>
            <a:off x="6309360" y="4078224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GET /health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72200" y="4389120"/>
            <a:ext cx="2423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27" name="Text 25"/>
          <p:cNvSpPr/>
          <p:nvPr/>
        </p:nvSpPr>
        <p:spPr>
          <a:xfrm>
            <a:off x="6309360" y="4462272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POST /predict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72200" y="4773168"/>
            <a:ext cx="2423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29" name="Text 27"/>
          <p:cNvSpPr/>
          <p:nvPr/>
        </p:nvSpPr>
        <p:spPr>
          <a:xfrm>
            <a:off x="6309360" y="4846320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GET /monitoring/summary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 i drift danych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Każda predykcja jest logowana, a request porównywany ze statystykami treningowymi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23444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5" name="Text 3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RevRate - predykcja cen samochodów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8/9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1920240" y="2331720"/>
            <a:ext cx="1783080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PL"/>
          </a:p>
        </p:txBody>
      </p:sp>
      <p:sp>
        <p:nvSpPr>
          <p:cNvPr id="8" name="Shape 6"/>
          <p:cNvSpPr/>
          <p:nvPr/>
        </p:nvSpPr>
        <p:spPr>
          <a:xfrm>
            <a:off x="5257800" y="2331720"/>
            <a:ext cx="1783080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PL"/>
          </a:p>
        </p:txBody>
      </p:sp>
      <p:sp>
        <p:nvSpPr>
          <p:cNvPr id="9" name="Shape 7"/>
          <p:cNvSpPr/>
          <p:nvPr/>
        </p:nvSpPr>
        <p:spPr>
          <a:xfrm>
            <a:off x="8549640" y="2331720"/>
            <a:ext cx="1691640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PL"/>
          </a:p>
        </p:txBody>
      </p:sp>
      <p:sp>
        <p:nvSpPr>
          <p:cNvPr id="10" name="Shape 8"/>
          <p:cNvSpPr/>
          <p:nvPr/>
        </p:nvSpPr>
        <p:spPr>
          <a:xfrm>
            <a:off x="731520" y="1828800"/>
            <a:ext cx="1417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1" name="Text 9"/>
          <p:cNvSpPr/>
          <p:nvPr/>
        </p:nvSpPr>
        <p:spPr>
          <a:xfrm>
            <a:off x="841248" y="1975104"/>
            <a:ext cx="119786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API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49040" y="1828800"/>
            <a:ext cx="1417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3" name="Text 11"/>
          <p:cNvSpPr/>
          <p:nvPr/>
        </p:nvSpPr>
        <p:spPr>
          <a:xfrm>
            <a:off x="3858768" y="1975104"/>
            <a:ext cx="119786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predykcja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modelu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086600" y="1828800"/>
            <a:ext cx="1417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5" name="Text 13"/>
          <p:cNvSpPr/>
          <p:nvPr/>
        </p:nvSpPr>
        <p:spPr>
          <a:xfrm>
            <a:off x="7196328" y="1975104"/>
            <a:ext cx="119786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predictions.csv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287000" y="1828800"/>
            <a:ext cx="13258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7" name="Text 15"/>
          <p:cNvSpPr/>
          <p:nvPr/>
        </p:nvSpPr>
        <p:spPr>
          <a:xfrm>
            <a:off x="10396728" y="1975104"/>
            <a:ext cx="110642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drift rate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507492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9" name="Shape 17"/>
          <p:cNvSpPr/>
          <p:nvPr/>
        </p:nvSpPr>
        <p:spPr>
          <a:xfrm>
            <a:off x="731520" y="3657600"/>
            <a:ext cx="100584" cy="1234440"/>
          </a:xfrm>
          <a:prstGeom prst="roundRect">
            <a:avLst>
              <a:gd name="adj" fmla="val 36364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20" name="Text 18"/>
          <p:cNvSpPr/>
          <p:nvPr/>
        </p:nvSpPr>
        <p:spPr>
          <a:xfrm>
            <a:off x="987552" y="38404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Reguły driftu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4206240"/>
            <a:ext cx="4663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Cechy numeryczne: alert, gdy wartość wychodzi poza zakres percentyli p01-p99. Cechy kategoryczne: alert, gdy wartość nie występowała w danych treningowych.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6172200" y="3657600"/>
            <a:ext cx="507492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23" name="Shape 21"/>
          <p:cNvSpPr/>
          <p:nvPr/>
        </p:nvSpPr>
        <p:spPr>
          <a:xfrm>
            <a:off x="6172200" y="3657600"/>
            <a:ext cx="100584" cy="1234440"/>
          </a:xfrm>
          <a:prstGeom prst="roundRect">
            <a:avLst>
              <a:gd name="adj" fmla="val 36364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24" name="Text 22"/>
          <p:cNvSpPr/>
          <p:nvPr/>
        </p:nvSpPr>
        <p:spPr>
          <a:xfrm>
            <a:off x="6428232" y="38404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 zapisuje log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28232" y="4206240"/>
            <a:ext cx="4663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timestamp, przewidziana cena, czas obsługi requestu, drift_detected, drift_warnings oraz wejście requestu jako JSON.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Podsumowanie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13716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4" name="Text 2"/>
          <p:cNvSpPr/>
          <p:nvPr/>
        </p:nvSpPr>
        <p:spPr>
          <a:xfrm>
            <a:off x="713232" y="1691640"/>
            <a:ext cx="54864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</a:rPr>
              <a:t>RevRate dostarcza kompletny, lokalny przepływ ML/MLOps: dane, trening, eksperymenty, najlepszy model, API oraz monitoring driftu.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688336"/>
            <a:ext cx="5074920" cy="512064"/>
          </a:xfrm>
          <a:prstGeom prst="roundRect">
            <a:avLst>
              <a:gd name="adj" fmla="val 14286"/>
            </a:avLst>
          </a:prstGeom>
          <a:solidFill>
            <a:srgbClr val="172554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6" name="Text 4"/>
          <p:cNvSpPr/>
          <p:nvPr/>
        </p:nvSpPr>
        <p:spPr>
          <a:xfrm>
            <a:off x="960120" y="2871216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</a:rPr>
              <a:t>Najlepszy model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14600" y="285292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Custom RandomForest + GridSearchCV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3464551"/>
            <a:ext cx="5074920" cy="512064"/>
          </a:xfrm>
          <a:prstGeom prst="roundRect">
            <a:avLst>
              <a:gd name="adj" fmla="val 14286"/>
            </a:avLst>
          </a:prstGeom>
          <a:solidFill>
            <a:srgbClr val="172554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9" name="Text 7"/>
          <p:cNvSpPr/>
          <p:nvPr/>
        </p:nvSpPr>
        <p:spPr>
          <a:xfrm>
            <a:off x="960120" y="3648456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</a:rPr>
              <a:t>Jakość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14600" y="363016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Test R² = 0,9199; RMSE = 10 110,71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4240766"/>
            <a:ext cx="5074920" cy="512064"/>
          </a:xfrm>
          <a:prstGeom prst="roundRect">
            <a:avLst>
              <a:gd name="adj" fmla="val 14286"/>
            </a:avLst>
          </a:prstGeom>
          <a:solidFill>
            <a:srgbClr val="172554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2" name="Text 10"/>
          <p:cNvSpPr/>
          <p:nvPr/>
        </p:nvSpPr>
        <p:spPr>
          <a:xfrm>
            <a:off x="960120" y="4425696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</a:rPr>
              <a:t>Gotowość operacyjna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14600" y="440740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FastAPI + logi predykcji + drift warnings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03720" y="17830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</a:rPr>
              <a:t>Miejsca do uzupełnienia wizualnego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RevRate - predykcja cen samochodów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9/9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751</Words>
  <Application>Microsoft Macintosh PowerPoint</Application>
  <PresentationFormat>Widescreen</PresentationFormat>
  <Paragraphs>160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revrate_presentation</dc:title>
  <dc:subject/>
  <dc:creator>Konrad Chwesiuk</dc:creator>
  <cp:keywords/>
  <dc:description/>
  <cp:lastModifiedBy>Konrad Chwesiuk</cp:lastModifiedBy>
  <cp:revision>3</cp:revision>
  <dcterms:created xsi:type="dcterms:W3CDTF">2026-06-25T23:02:33Z</dcterms:created>
  <dcterms:modified xsi:type="dcterms:W3CDTF">2026-06-25T23:19:19Z</dcterms:modified>
  <cp:category/>
</cp:coreProperties>
</file>